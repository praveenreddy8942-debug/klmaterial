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72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A9C2D-F7D5-0DC9-31EA-07C4CC0319A8}" v="5" dt="2024-12-23T02:14:40.603"/>
    <p1510:client id="{8CACB00D-BF74-DD38-1D61-95ABA2B12F8F}" v="46" dt="2024-12-23T02:42:14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ANUSHA" userId="S::anushaaa9@kluniversity.in::31576902-587f-4416-b184-62b5dd11a3e8" providerId="AD" clId="Web-{0DFA9C2D-F7D5-0DC9-31EA-07C4CC0319A8}"/>
    <pc:docChg chg="modSld">
      <pc:chgData name="M ANUSHA" userId="S::anushaaa9@kluniversity.in::31576902-587f-4416-b184-62b5dd11a3e8" providerId="AD" clId="Web-{0DFA9C2D-F7D5-0DC9-31EA-07C4CC0319A8}" dt="2024-12-23T02:14:40.603" v="4" actId="20577"/>
      <pc:docMkLst>
        <pc:docMk/>
      </pc:docMkLst>
      <pc:sldChg chg="modSp">
        <pc:chgData name="M ANUSHA" userId="S::anushaaa9@kluniversity.in::31576902-587f-4416-b184-62b5dd11a3e8" providerId="AD" clId="Web-{0DFA9C2D-F7D5-0DC9-31EA-07C4CC0319A8}" dt="2024-12-23T02:14:40.603" v="4" actId="20577"/>
        <pc:sldMkLst>
          <pc:docMk/>
          <pc:sldMk cId="3616883012" sldId="259"/>
        </pc:sldMkLst>
        <pc:spChg chg="mod">
          <ac:chgData name="M ANUSHA" userId="S::anushaaa9@kluniversity.in::31576902-587f-4416-b184-62b5dd11a3e8" providerId="AD" clId="Web-{0DFA9C2D-F7D5-0DC9-31EA-07C4CC0319A8}" dt="2024-12-23T02:14:40.603" v="4" actId="20577"/>
          <ac:spMkLst>
            <pc:docMk/>
            <pc:sldMk cId="3616883012" sldId="259"/>
            <ac:spMk id="4" creationId="{043EFA7A-639A-4BAC-9D23-D8355D8F6144}"/>
          </ac:spMkLst>
        </pc:spChg>
      </pc:sldChg>
    </pc:docChg>
  </pc:docChgLst>
  <pc:docChgLst>
    <pc:chgData name="M ANUSHA" userId="S::anushaaa9@kluniversity.in::31576902-587f-4416-b184-62b5dd11a3e8" providerId="AD" clId="Web-{8CACB00D-BF74-DD38-1D61-95ABA2B12F8F}"/>
    <pc:docChg chg="addSld modSld">
      <pc:chgData name="M ANUSHA" userId="S::anushaaa9@kluniversity.in::31576902-587f-4416-b184-62b5dd11a3e8" providerId="AD" clId="Web-{8CACB00D-BF74-DD38-1D61-95ABA2B12F8F}" dt="2024-12-23T02:42:14.480" v="44"/>
      <pc:docMkLst>
        <pc:docMk/>
      </pc:docMkLst>
      <pc:sldChg chg="modSp">
        <pc:chgData name="M ANUSHA" userId="S::anushaaa9@kluniversity.in::31576902-587f-4416-b184-62b5dd11a3e8" providerId="AD" clId="Web-{8CACB00D-BF74-DD38-1D61-95ABA2B12F8F}" dt="2024-12-23T02:32:35.511" v="25" actId="20577"/>
        <pc:sldMkLst>
          <pc:docMk/>
          <pc:sldMk cId="2754036208" sldId="257"/>
        </pc:sldMkLst>
        <pc:spChg chg="mod">
          <ac:chgData name="M ANUSHA" userId="S::anushaaa9@kluniversity.in::31576902-587f-4416-b184-62b5dd11a3e8" providerId="AD" clId="Web-{8CACB00D-BF74-DD38-1D61-95ABA2B12F8F}" dt="2024-12-23T02:31:17.931" v="18" actId="14100"/>
          <ac:spMkLst>
            <pc:docMk/>
            <pc:sldMk cId="2754036208" sldId="257"/>
            <ac:spMk id="2" creationId="{A4ECF464-D76F-4BBC-9356-AC03D8C6D4C7}"/>
          </ac:spMkLst>
        </pc:spChg>
        <pc:spChg chg="mod">
          <ac:chgData name="M ANUSHA" userId="S::anushaaa9@kluniversity.in::31576902-587f-4416-b184-62b5dd11a3e8" providerId="AD" clId="Web-{8CACB00D-BF74-DD38-1D61-95ABA2B12F8F}" dt="2024-12-23T02:32:35.511" v="25" actId="20577"/>
          <ac:spMkLst>
            <pc:docMk/>
            <pc:sldMk cId="2754036208" sldId="257"/>
            <ac:spMk id="4" creationId="{043EFA7A-639A-4BAC-9D23-D8355D8F6144}"/>
          </ac:spMkLst>
        </pc:spChg>
      </pc:sldChg>
      <pc:sldChg chg="modSp">
        <pc:chgData name="M ANUSHA" userId="S::anushaaa9@kluniversity.in::31576902-587f-4416-b184-62b5dd11a3e8" providerId="AD" clId="Web-{8CACB00D-BF74-DD38-1D61-95ABA2B12F8F}" dt="2024-12-23T02:35:01.812" v="35" actId="20577"/>
        <pc:sldMkLst>
          <pc:docMk/>
          <pc:sldMk cId="3616883012" sldId="259"/>
        </pc:sldMkLst>
        <pc:spChg chg="mod">
          <ac:chgData name="M ANUSHA" userId="S::anushaaa9@kluniversity.in::31576902-587f-4416-b184-62b5dd11a3e8" providerId="AD" clId="Web-{8CACB00D-BF74-DD38-1D61-95ABA2B12F8F}" dt="2024-12-23T02:35:01.812" v="35" actId="20577"/>
          <ac:spMkLst>
            <pc:docMk/>
            <pc:sldMk cId="3616883012" sldId="259"/>
            <ac:spMk id="4" creationId="{043EFA7A-639A-4BAC-9D23-D8355D8F6144}"/>
          </ac:spMkLst>
        </pc:spChg>
      </pc:sldChg>
      <pc:sldChg chg="addSp modSp new">
        <pc:chgData name="M ANUSHA" userId="S::anushaaa9@kluniversity.in::31576902-587f-4416-b184-62b5dd11a3e8" providerId="AD" clId="Web-{8CACB00D-BF74-DD38-1D61-95ABA2B12F8F}" dt="2024-12-23T02:42:14.480" v="44"/>
        <pc:sldMkLst>
          <pc:docMk/>
          <pc:sldMk cId="2704026646" sldId="272"/>
        </pc:sldMkLst>
        <pc:spChg chg="mod">
          <ac:chgData name="M ANUSHA" userId="S::anushaaa9@kluniversity.in::31576902-587f-4416-b184-62b5dd11a3e8" providerId="AD" clId="Web-{8CACB00D-BF74-DD38-1D61-95ABA2B12F8F}" dt="2024-12-23T02:41:50.745" v="39"/>
          <ac:spMkLst>
            <pc:docMk/>
            <pc:sldMk cId="2704026646" sldId="272"/>
            <ac:spMk id="2" creationId="{1EFC228E-8B83-C713-D9E3-47C51769E9D4}"/>
          </ac:spMkLst>
        </pc:spChg>
        <pc:spChg chg="add mod">
          <ac:chgData name="M ANUSHA" userId="S::anushaaa9@kluniversity.in::31576902-587f-4416-b184-62b5dd11a3e8" providerId="AD" clId="Web-{8CACB00D-BF74-DD38-1D61-95ABA2B12F8F}" dt="2024-12-23T02:42:14.480" v="44"/>
          <ac:spMkLst>
            <pc:docMk/>
            <pc:sldMk cId="2704026646" sldId="272"/>
            <ac:spMk id="3" creationId="{C22E4B26-2151-275C-BA24-241DBE50A6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AFB0-4415-48D6-9585-C2970211E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2C9F4-7AF4-444A-A9D9-0031F96A6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1CFA2-AFB5-4152-B312-EF569BD4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DB030-EE5B-4716-8DFB-2633A14D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8B7E-A5F0-43FB-AC21-911A79BC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5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BBD6-B3DA-44DA-BA9B-A28C0851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D3CA-7BE1-4F40-97E3-175317345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55A14-50BD-49A9-8FF3-8E19CB93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407AA-97A7-4C88-8C6F-0FCE3AE3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BD03-B13F-4790-B426-4BC5F54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12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A93D-16AF-4ACB-9652-6DF877512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08978-246B-4DA7-B5CF-F2D23617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B15DC-D81D-4278-A09C-7F31E124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02DE-D67A-4350-8364-FB041FE9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A8AD3-31CA-4B3B-883E-D9975046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6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FC53-F6E9-4B9A-91C6-A33F85B1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B30D-0EEE-4350-8A6B-7C8EEA559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1864E-7886-4250-A894-6A501D481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68D78-9511-42C0-AC5C-9CEAFAB0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6BDE2-5F47-4B97-BEFB-E07AA768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1B98C-1463-434A-B871-E7E1C5C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8C6C-3481-4A4E-B2BA-D3C762B2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33CFF-BEF1-4FB4-A22E-8E3CF3D8A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5848F-02D0-408A-8DE4-A19078031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31A4B-D0B6-4849-80AA-142E31819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64F5-BD57-4F42-8C3F-15D1A2219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2B473-0B99-43EA-BDB5-10ABE56E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B9B09-66CA-4FC5-A88D-12BDE131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AF8B3-E11D-491B-BC24-203DE045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1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0D3B-D73E-4B40-8335-B74D6E65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7B6B2-DBB3-40EE-A380-0DA31E66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57427-642B-4324-BC9C-5C7FD641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D9FA6-84C3-4501-922F-FE6D8287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7A8DF-26C2-43E0-8C10-AEB4DC34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59945-F9E1-4981-B8C9-8BC82BAB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4D652-2979-41DD-A258-508FE4F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59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D7E5-084F-4948-9EB9-EE09F368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8791-9A21-4250-AC63-BC6179D48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26E26-AF46-4DED-B2B6-7C424118E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73BD4-CA82-405E-96E1-2D0D3A70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49E17-FDE6-4526-9D99-C6026760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0BC20-3527-44ED-BA77-76DCFECC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3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4173-403C-4EA3-B678-4AA35FE6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7C7A0-C10A-423C-8DD4-0F70C48CA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DACB8-8702-4DD5-A725-97D27E113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B905B-95F8-4E09-8290-C21BF246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C2044-E389-471B-9511-55C51B44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65D09-EB74-4AF0-8E49-6AF64D8A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13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31E8-5606-488C-B88D-9C5D5F23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88BCF-2FF3-4509-86A5-734C4E1EF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E49D5-5535-431E-BF33-9B706B2E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2B9F-991B-43B6-ABC2-D44A7D0A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2784-B8D4-44F9-ACAB-E37BA3B9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ED5F3-0733-43C0-993B-651F359D8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76DF9-4092-45E7-85F8-8ECCAC679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AF147-33B0-4A6A-89D3-880F0017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5DC0-7DF0-4509-B06A-C5757FC6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92C7-8108-42DC-83C1-D7F33F07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1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384F4-4DE7-42BC-9FFB-14481B12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C002E-F858-403F-9903-2FBF3F509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71D77-7DBB-4DA1-906D-1B874FF81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8765C-E932-4A28-9A3E-91CB4DDE51C3}" type="datetimeFigureOut">
              <a:rPr lang="en-IN" smtClean="0"/>
              <a:t>22-12-2024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121C-5776-4AE4-8CCB-7456232F8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B8525-17BF-4719-B9EA-34E2A2266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85FCF-CBF1-41E2-B6F5-8718C2E72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54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9D9-8102-4504-A008-720BBB803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86265"/>
          </a:xfrm>
        </p:spPr>
        <p:txBody>
          <a:bodyPr/>
          <a:lstStyle/>
          <a:p>
            <a:r>
              <a:rPr lang="en-IN" dirty="0"/>
              <a:t>Algorithm Efficiency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CC9F9-AC78-4C08-A2CA-49B643D34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1169"/>
            <a:ext cx="9144000" cy="293663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efficiency of an algorithm or running time of an algorithm can be calculated by the number of instructions it contains.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efficiency of an algorithm may vary depending on number of loops and the running time of each loop in an algorithm.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56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697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Linear Loop   (++,--)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655492" y="890125"/>
            <a:ext cx="10915185" cy="574982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/>
              <a:t>To calculate the efficiency of an algorithm that has single loop</a:t>
            </a:r>
          </a:p>
          <a:p>
            <a:pPr marL="342900" indent="-342900" algn="just"/>
            <a:r>
              <a:rPr lang="en-IN" dirty="0"/>
              <a:t>First we need to determine the number of times the statement in loop to be executed.</a:t>
            </a:r>
          </a:p>
          <a:p>
            <a:pPr marL="0" indent="0" algn="just">
              <a:buNone/>
            </a:pPr>
            <a:r>
              <a:rPr lang="en-IN" b="1" dirty="0"/>
              <a:t>Ex: for(</a:t>
            </a:r>
            <a:r>
              <a:rPr lang="en-IN" b="1" dirty="0" err="1"/>
              <a:t>i</a:t>
            </a:r>
            <a:r>
              <a:rPr lang="en-IN" b="1" dirty="0"/>
              <a:t>=0;i&lt;100;i++)</a:t>
            </a:r>
          </a:p>
          <a:p>
            <a:pPr marL="0" indent="0" algn="just">
              <a:buNone/>
            </a:pPr>
            <a:r>
              <a:rPr lang="en-IN" dirty="0"/>
              <a:t>Here, loop factor is 100</a:t>
            </a:r>
          </a:p>
          <a:p>
            <a:pPr marL="0" indent="0" algn="just">
              <a:buNone/>
            </a:pPr>
            <a:r>
              <a:rPr lang="en-IN" dirty="0"/>
              <a:t>Hence, the general form of linear loop is f(n)=n</a:t>
            </a:r>
          </a:p>
          <a:p>
            <a:pPr marL="0" indent="0" algn="just">
              <a:buNone/>
            </a:pPr>
            <a:r>
              <a:rPr lang="en-IN" b="1" dirty="0">
                <a:ea typeface="Calibri" panose="020F0502020204030204"/>
                <a:cs typeface="Calibri" panose="020F0502020204030204"/>
              </a:rPr>
              <a:t>Ex: for(</a:t>
            </a:r>
            <a:r>
              <a:rPr lang="en-IN" b="1" dirty="0" err="1">
                <a:ea typeface="Calibri" panose="020F0502020204030204"/>
                <a:cs typeface="Calibri" panose="020F0502020204030204"/>
              </a:rPr>
              <a:t>i</a:t>
            </a:r>
            <a:r>
              <a:rPr lang="en-IN" b="1" dirty="0">
                <a:ea typeface="Calibri" panose="020F0502020204030204"/>
                <a:cs typeface="Calibri" panose="020F0502020204030204"/>
              </a:rPr>
              <a:t>=10;i&gt;0;i--)</a:t>
            </a:r>
          </a:p>
          <a:p>
            <a:pPr marL="0" indent="0" algn="just">
              <a:buNone/>
            </a:pPr>
            <a:r>
              <a:rPr lang="en-IN" dirty="0">
                <a:ea typeface="Calibri" panose="020F0502020204030204"/>
                <a:cs typeface="Calibri" panose="020F0502020204030204"/>
              </a:rPr>
              <a:t>Here, loop factor is 10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IN" dirty="0">
                <a:ea typeface="Calibri" panose="020F0502020204030204"/>
                <a:cs typeface="Calibri" panose="020F0502020204030204"/>
              </a:rPr>
              <a:t>Hence, the general form of linear loop is f(n)=n</a:t>
            </a:r>
            <a:endParaRPr lang="en-IN" dirty="0"/>
          </a:p>
          <a:p>
            <a:pPr marL="0" indent="0" algn="just">
              <a:buNone/>
            </a:pPr>
            <a:r>
              <a:rPr lang="en-IN" b="1" dirty="0"/>
              <a:t>Ex: for(</a:t>
            </a:r>
            <a:r>
              <a:rPr lang="en-IN" b="1" dirty="0" err="1"/>
              <a:t>i</a:t>
            </a:r>
            <a:r>
              <a:rPr lang="en-IN" b="1" dirty="0"/>
              <a:t>=0;i&lt;100;i+=2)</a:t>
            </a:r>
          </a:p>
          <a:p>
            <a:pPr marL="0" indent="0" algn="just">
              <a:buNone/>
            </a:pPr>
            <a:r>
              <a:rPr lang="en-IN" dirty="0"/>
              <a:t>Here, the </a:t>
            </a:r>
            <a:r>
              <a:rPr lang="en-IN" dirty="0" err="1"/>
              <a:t>no.of</a:t>
            </a:r>
            <a:r>
              <a:rPr lang="en-IN" dirty="0"/>
              <a:t> iterations is half the </a:t>
            </a:r>
            <a:r>
              <a:rPr lang="en-IN" dirty="0" err="1"/>
              <a:t>no.of</a:t>
            </a:r>
            <a:r>
              <a:rPr lang="en-IN" dirty="0"/>
              <a:t> loop factor</a:t>
            </a:r>
          </a:p>
          <a:p>
            <a:pPr marL="0" indent="0" algn="just">
              <a:buNone/>
            </a:pPr>
            <a:r>
              <a:rPr lang="en-IN" dirty="0"/>
              <a:t>So, the efficiency can be given as is f(n)=n/2</a:t>
            </a:r>
          </a:p>
        </p:txBody>
      </p:sp>
    </p:spTree>
    <p:extLst>
      <p:ext uri="{BB962C8B-B14F-4D97-AF65-F5344CB8AC3E}">
        <p14:creationId xmlns:p14="http://schemas.microsoft.com/office/powerpoint/2010/main" val="275403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6"/>
            <a:ext cx="10515600" cy="943170"/>
          </a:xfrm>
        </p:spPr>
        <p:txBody>
          <a:bodyPr/>
          <a:lstStyle/>
          <a:p>
            <a:r>
              <a:rPr lang="en-IN" b="1" dirty="0"/>
              <a:t>Logarithmic Loop (*,/)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1055077" y="984739"/>
            <a:ext cx="10515600" cy="565521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/>
              <a:t>To calculate the efficiency of an algorithm that has single loop</a:t>
            </a:r>
          </a:p>
          <a:p>
            <a:pPr algn="just"/>
            <a:r>
              <a:rPr lang="en-IN" dirty="0"/>
              <a:t>Either multiplied or dividing during each iteration of the loop</a:t>
            </a:r>
          </a:p>
          <a:p>
            <a:pPr marL="0" indent="0" algn="just">
              <a:buNone/>
            </a:pPr>
            <a:r>
              <a:rPr lang="en-IN" b="1" dirty="0"/>
              <a:t>Ex: for(</a:t>
            </a:r>
            <a:r>
              <a:rPr lang="en-IN" b="1" dirty="0" err="1"/>
              <a:t>i</a:t>
            </a:r>
            <a:r>
              <a:rPr lang="en-IN" b="1" dirty="0"/>
              <a:t>=1;i&lt;100;i*=2)</a:t>
            </a:r>
            <a:endParaRPr lang="en-IN" b="1" dirty="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IN" dirty="0"/>
              <a:t>Here, loop if executed only 10 times, in which the loop-controlling variable ‘</a:t>
            </a:r>
            <a:r>
              <a:rPr lang="en-IN" dirty="0" err="1"/>
              <a:t>i</a:t>
            </a:r>
            <a:r>
              <a:rPr lang="en-IN" dirty="0"/>
              <a:t>’ is multiplied by 2.  </a:t>
            </a:r>
          </a:p>
          <a:p>
            <a:pPr marL="0" indent="0" algn="just">
              <a:buNone/>
            </a:pPr>
            <a:r>
              <a:rPr lang="en-IN" b="1" dirty="0"/>
              <a:t>Ex: for(</a:t>
            </a:r>
            <a:r>
              <a:rPr lang="en-IN" b="1" dirty="0" err="1"/>
              <a:t>i</a:t>
            </a:r>
            <a:r>
              <a:rPr lang="en-IN" b="1" dirty="0"/>
              <a:t>=100;i&gt;=0;i/=2)</a:t>
            </a:r>
            <a:endParaRPr lang="en-IN" b="1" dirty="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IN" dirty="0"/>
              <a:t>Here, loop if executed only 10 times, in which the loop-controlling variable ‘</a:t>
            </a:r>
            <a:r>
              <a:rPr lang="en-IN" dirty="0" err="1"/>
              <a:t>i</a:t>
            </a:r>
            <a:r>
              <a:rPr lang="en-IN" dirty="0"/>
              <a:t>’ is divided by 2.</a:t>
            </a:r>
          </a:p>
          <a:p>
            <a:pPr marL="0" indent="0" algn="just">
              <a:buNone/>
            </a:pPr>
            <a:r>
              <a:rPr lang="en-IN" dirty="0"/>
              <a:t>When n=100, the iterations can be given as log100 approximately equal to 10.</a:t>
            </a:r>
          </a:p>
          <a:p>
            <a:pPr marL="0" indent="0" algn="just">
              <a:buNone/>
            </a:pPr>
            <a:r>
              <a:rPr lang="en-IN" dirty="0"/>
              <a:t>Therefore, the efficiency of loops in which iterations divide or multiply the loop controlling can be given as  f(n)=logn  </a:t>
            </a:r>
          </a:p>
        </p:txBody>
      </p:sp>
    </p:spTree>
    <p:extLst>
      <p:ext uri="{BB962C8B-B14F-4D97-AF65-F5344CB8AC3E}">
        <p14:creationId xmlns:p14="http://schemas.microsoft.com/office/powerpoint/2010/main" val="361688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6"/>
            <a:ext cx="10515600" cy="943170"/>
          </a:xfrm>
        </p:spPr>
        <p:txBody>
          <a:bodyPr/>
          <a:lstStyle/>
          <a:p>
            <a:r>
              <a:rPr lang="en-IN" b="1" dirty="0"/>
              <a:t>Nested loops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1055077" y="984739"/>
            <a:ext cx="10515600" cy="56552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/>
              <a:t>Loops that contain loops are known as nested loops. In order to analyse nested loops, </a:t>
            </a:r>
          </a:p>
          <a:p>
            <a:pPr algn="just"/>
            <a:r>
              <a:rPr lang="en-IN" dirty="0"/>
              <a:t>we need to determine the number of iterations each loop completes</a:t>
            </a:r>
          </a:p>
          <a:p>
            <a:pPr algn="just"/>
            <a:r>
              <a:rPr lang="en-IN" dirty="0"/>
              <a:t>The total is then obtained as the product of the number of </a:t>
            </a:r>
            <a:r>
              <a:rPr lang="en-IN" b="1" dirty="0"/>
              <a:t>iterations in the inner loop and the number of iterations in the outer loop</a:t>
            </a:r>
            <a:r>
              <a:rPr lang="en-IN" dirty="0"/>
              <a:t>.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r>
              <a:rPr lang="en-IN" dirty="0"/>
              <a:t>The efficiency of the nested loops can be calculated by </a:t>
            </a:r>
          </a:p>
          <a:p>
            <a:pPr marL="0" indent="0" algn="just">
              <a:buNone/>
            </a:pPr>
            <a:r>
              <a:rPr lang="en-IN" dirty="0"/>
              <a:t>1.Linear Logarithmic loop</a:t>
            </a:r>
          </a:p>
          <a:p>
            <a:pPr marL="0" indent="0" algn="just">
              <a:buNone/>
            </a:pPr>
            <a:r>
              <a:rPr lang="en-IN" dirty="0"/>
              <a:t>2.Quadratic loop</a:t>
            </a:r>
          </a:p>
          <a:p>
            <a:pPr marL="0" indent="0" algn="just">
              <a:buNone/>
            </a:pPr>
            <a:r>
              <a:rPr lang="en-IN" dirty="0"/>
              <a:t>3.Dependent quadratic nested loops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69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208068"/>
            <a:ext cx="10825089" cy="88920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Linear Logarithmic Loop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745588" y="1308295"/>
            <a:ext cx="10825089" cy="53316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/>
              <a:t>Ex: 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&lt;10;i++)</a:t>
            </a:r>
          </a:p>
          <a:p>
            <a:pPr marL="0" indent="0" algn="just">
              <a:buNone/>
            </a:pPr>
            <a:r>
              <a:rPr lang="en-IN" dirty="0"/>
              <a:t>           for(j=1;j&lt;1000;j*=2)</a:t>
            </a:r>
          </a:p>
          <a:p>
            <a:pPr marL="0" indent="0" algn="just">
              <a:buNone/>
            </a:pPr>
            <a:r>
              <a:rPr lang="en-IN" dirty="0"/>
              <a:t>		statement block;</a:t>
            </a:r>
          </a:p>
          <a:p>
            <a:pPr marL="0" indent="0" algn="just">
              <a:buNone/>
            </a:pPr>
            <a:r>
              <a:rPr lang="en-IN" dirty="0"/>
              <a:t>Here, the inner loop is multiplied each iteration. </a:t>
            </a:r>
          </a:p>
          <a:p>
            <a:pPr marL="0" indent="0" algn="just">
              <a:buNone/>
            </a:pPr>
            <a:r>
              <a:rPr lang="en-IN" dirty="0"/>
              <a:t>The number of iterations in the inner loop is log10.</a:t>
            </a:r>
          </a:p>
          <a:p>
            <a:pPr marL="0" indent="0" algn="just">
              <a:buNone/>
            </a:pPr>
            <a:r>
              <a:rPr lang="en-IN" dirty="0"/>
              <a:t>The inner loop is controlled by an outer loop which iterates 10 times.</a:t>
            </a:r>
          </a:p>
          <a:p>
            <a:pPr marL="0" indent="0" algn="just">
              <a:buNone/>
            </a:pPr>
            <a:r>
              <a:rPr lang="en-IN" dirty="0"/>
              <a:t>Therefore, the number of iterations need for this code is 10 log10.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Generally, the efficiency of such loops can be given as f(n)=</a:t>
            </a:r>
            <a:r>
              <a:rPr lang="en-IN" dirty="0" err="1"/>
              <a:t>nlogn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00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6"/>
            <a:ext cx="10515600" cy="94317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Quadratic Loop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1055077" y="984739"/>
            <a:ext cx="10515600" cy="56552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28A83D-6E6C-431B-AFC2-7E9EB35A325F}"/>
                  </a:ext>
                </a:extLst>
              </p:cNvPr>
              <p:cNvSpPr txBox="1"/>
              <p:nvPr/>
            </p:nvSpPr>
            <p:spPr>
              <a:xfrm>
                <a:off x="1055077" y="1097277"/>
                <a:ext cx="10185009" cy="5120643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indent="0" algn="just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/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Here, the number of iterations in the inner loop is equal to the number of iterations in the outer loop.</a:t>
                </a:r>
              </a:p>
              <a:p>
                <a:r>
                  <a:rPr lang="en-IN" dirty="0"/>
                  <a:t>Ex: for(</a:t>
                </a:r>
                <a:r>
                  <a:rPr lang="en-IN" dirty="0" err="1"/>
                  <a:t>i</a:t>
                </a:r>
                <a:r>
                  <a:rPr lang="en-IN" dirty="0"/>
                  <a:t>=0; </a:t>
                </a:r>
                <a:r>
                  <a:rPr lang="en-IN" dirty="0" err="1"/>
                  <a:t>i</a:t>
                </a:r>
                <a:r>
                  <a:rPr lang="en-IN" dirty="0"/>
                  <a:t>&lt;10;i++)</a:t>
                </a:r>
              </a:p>
              <a:p>
                <a:r>
                  <a:rPr lang="en-IN" dirty="0"/>
                  <a:t>           for(j=0;j&lt;10;j++)</a:t>
                </a:r>
              </a:p>
              <a:p>
                <a:r>
                  <a:rPr lang="en-IN" dirty="0"/>
                  <a:t>		statement block;</a:t>
                </a:r>
              </a:p>
              <a:p>
                <a:r>
                  <a:rPr lang="en-IN" dirty="0"/>
                  <a:t>Here, the outer loop executes’10’ times and for each iteration of the outer loop, the inner loop also executes 10 times.</a:t>
                </a:r>
              </a:p>
              <a:p>
                <a:r>
                  <a:rPr lang="en-IN" dirty="0"/>
                  <a:t>Therefore, the efficiency if 100.</a:t>
                </a:r>
              </a:p>
              <a:p>
                <a:endParaRPr lang="en-IN" dirty="0"/>
              </a:p>
              <a:p>
                <a:r>
                  <a:rPr lang="en-IN" dirty="0"/>
                  <a:t>Generally, the efficiency of such loops can be given as f(n)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28A83D-6E6C-431B-AFC2-7E9EB35A3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77" y="1097277"/>
                <a:ext cx="10185009" cy="5120643"/>
              </a:xfrm>
              <a:prstGeom prst="rect">
                <a:avLst/>
              </a:prstGeom>
              <a:blipFill>
                <a:blip r:embed="rId2"/>
                <a:stretch>
                  <a:fillRect l="-1197" t="-1905" r="-1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8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F464-D76F-4BBC-9356-AC03D8C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06"/>
            <a:ext cx="10515600" cy="94317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Dependent Quadratic Nested Loops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3EFA7A-639A-4BAC-9D23-D8355D8F6144}"/>
              </a:ext>
            </a:extLst>
          </p:cNvPr>
          <p:cNvSpPr txBox="1">
            <a:spLocks/>
          </p:cNvSpPr>
          <p:nvPr/>
        </p:nvSpPr>
        <p:spPr>
          <a:xfrm>
            <a:off x="1055077" y="984739"/>
            <a:ext cx="10515600" cy="56552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BF622-6C61-47B5-A5DC-95F5B399E6C1}"/>
              </a:ext>
            </a:extLst>
          </p:cNvPr>
          <p:cNvSpPr txBox="1"/>
          <p:nvPr/>
        </p:nvSpPr>
        <p:spPr>
          <a:xfrm>
            <a:off x="1055077" y="1097276"/>
            <a:ext cx="10081846" cy="524725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dirty="0"/>
              <a:t>Here, the number of iterations in the inner loop is dependent on the outer loop.</a:t>
            </a:r>
          </a:p>
          <a:p>
            <a:r>
              <a:rPr lang="en-IN" dirty="0"/>
              <a:t>Ex: 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&lt;10;i++)</a:t>
            </a:r>
          </a:p>
          <a:p>
            <a:r>
              <a:rPr lang="en-IN" dirty="0"/>
              <a:t>           for(j=0;j&lt;</a:t>
            </a:r>
            <a:r>
              <a:rPr lang="en-IN" dirty="0" err="1"/>
              <a:t>i;j</a:t>
            </a:r>
            <a:r>
              <a:rPr lang="en-IN" dirty="0"/>
              <a:t>++)</a:t>
            </a:r>
          </a:p>
          <a:p>
            <a:r>
              <a:rPr lang="en-IN" dirty="0"/>
              <a:t>		statement block;</a:t>
            </a:r>
          </a:p>
          <a:p>
            <a:r>
              <a:rPr lang="en-IN" dirty="0"/>
              <a:t>Here, the inner loop will execute once in the first iteration, twice in the second, thrice in the third iteration and so on.</a:t>
            </a:r>
          </a:p>
          <a:p>
            <a:r>
              <a:rPr lang="en-IN" dirty="0"/>
              <a:t>It can be calculated as 1+2+3-----9+10=55.</a:t>
            </a:r>
          </a:p>
          <a:p>
            <a:r>
              <a:rPr lang="en-IN" dirty="0"/>
              <a:t>The average of this loop is 55/10=5.5</a:t>
            </a:r>
          </a:p>
          <a:p>
            <a:r>
              <a:rPr lang="en-IN" dirty="0"/>
              <a:t>If we observe that it is equal to (10+1)/2,i.e., (n+1)/2</a:t>
            </a:r>
          </a:p>
          <a:p>
            <a:r>
              <a:rPr lang="en-IN" dirty="0"/>
              <a:t>Therefore, the efficiency of these codes is given as f(n)=n(n+1)/2</a:t>
            </a:r>
          </a:p>
        </p:txBody>
      </p:sp>
    </p:spTree>
    <p:extLst>
      <p:ext uri="{BB962C8B-B14F-4D97-AF65-F5344CB8AC3E}">
        <p14:creationId xmlns:p14="http://schemas.microsoft.com/office/powerpoint/2010/main" val="208376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228E-8B83-C713-D9E3-47C51769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IN" b="1" dirty="0"/>
              <a:t>consecutive loops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E4B26-2151-275C-BA24-241DBE50A6D5}"/>
              </a:ext>
            </a:extLst>
          </p:cNvPr>
          <p:cNvSpPr txBox="1"/>
          <p:nvPr/>
        </p:nvSpPr>
        <p:spPr>
          <a:xfrm>
            <a:off x="477644" y="1434791"/>
            <a:ext cx="11273882" cy="15696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for (int i = 1; i &lt;=m; i += c) {  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      // some O(1) expressions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 }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 for (int i = 1; i &lt;=n; i += c) {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      // some O(1) expressions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 }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 Time complexity of above code is O(m) + O(n) which is O(m+n)</a:t>
            </a:r>
            <a:r>
              <a:rPr lang="en-US" sz="2800"/>
              <a:t> 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IN" sz="2800"/>
              <a:t>   If m == n, the time complexity becomes O(2n) which is O(n</a:t>
            </a:r>
          </a:p>
        </p:txBody>
      </p:sp>
    </p:spTree>
    <p:extLst>
      <p:ext uri="{BB962C8B-B14F-4D97-AF65-F5344CB8AC3E}">
        <p14:creationId xmlns:p14="http://schemas.microsoft.com/office/powerpoint/2010/main" val="270402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CF57-D93A-447C-A5E0-F91615E6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79" y="1129880"/>
            <a:ext cx="10515600" cy="427657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meaningful way of representation of  time complexity.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are 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Big Oh          [  O (g(n))  ]  { Upper bound/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Worst Case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ii) Big Theta    [  Ɵ (g(n))  ]  {  Average }</a:t>
            </a:r>
            <a:b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iii) Big Omega   [  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(g(n))  ]  { Lower bound/Best case}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Order increases in this format: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(1), O (log n), O (n/2), O (n), O (n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O (n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. . 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5C158C-0BE4-4E09-8A94-BB39C3173A18}"/>
              </a:ext>
            </a:extLst>
          </p:cNvPr>
          <p:cNvSpPr txBox="1"/>
          <p:nvPr/>
        </p:nvSpPr>
        <p:spPr>
          <a:xfrm>
            <a:off x="1389184" y="483549"/>
            <a:ext cx="7754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Asymptotic Notations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22625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217D-FB30-4172-974D-38FD2407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5004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Analysis:           Sum of n natural numbers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Algorithm:		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taken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			     		------ 0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 Read ‘n’ 				------ 1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initialize:  sum=0,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 		------ 1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Process:  sum = sum +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	     		------ 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+1           			------ 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if   (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= n )  go to step 4      	                ------ n +1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 print  ‘sum’  		      	------ 1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			      		------ 0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Total time in function		f(n)	=   3n + 4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758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392D-8D7B-4112-9892-30F342CD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669"/>
          </a:xfrm>
        </p:spPr>
        <p:txBody>
          <a:bodyPr>
            <a:no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Oh [  O (g(n))  ]  { Upper bound/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Worst Case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A5675-06EE-4CDA-B8A4-9F2CFA980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" y="1069794"/>
            <a:ext cx="102412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f(n) = O(g(n)), if and only if there exists constants “c and n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 such that f(n) ≤ c . g(n) for all value of n, where as n&gt;n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400" dirty="0"/>
              <a:t>Ex: f(n)=3n+4, g(n)=n, find f(n)=O(g(n))</a:t>
            </a:r>
            <a:br>
              <a:rPr lang="en-IN" sz="2400" dirty="0"/>
            </a:br>
            <a:br>
              <a:rPr lang="en-IN" sz="2400" dirty="0"/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f(n) ≤ c g(n)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3n+4 ≤ c n   =&gt;c=7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3n+4 ≤ 7n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3n + 4 ≤ 7n  then   C = 7 , g(n) = 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n=1  then 7  ≤ 7 ;   		If  n=2 then 10 ≤ 14 		;If  n=3 then 13 ≤ 21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              	f(n) = O(g(n)) = O(n)   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			f(n) = O(n)	                         [Worst case ]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9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7165-EFF7-417A-AE1A-0F16F651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669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b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9AC01-B12D-4A84-A473-5408D9778F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46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Theta    [  Ɵ (g(n))  ]  {  Average }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95F0A-6402-44E3-8E83-1C5EB0077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" y="1347403"/>
            <a:ext cx="10241280" cy="470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f(n) = </a:t>
            </a:r>
            <a:r>
              <a:rPr lang="el-G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Ɵ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(g(n)), if and only if there exists constants “c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n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such that c1g(n) ≤ f(n) ≤ c2g(n) for all value of n, where as n&gt;n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	=   3n + 4  ;                    c1 . g(n) ≤ f(n) ≤ c . g(n)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 . g(n)  ≤ 3n + 4  ≤  C2 . g(n)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3n ≤  3n + 4 ≤   7n then   C1 = 3 , C2 = 7 and g(n) = 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n=1  then   3 ≤ 7 ≤ 7	;	If  n=2 then  6 ≤ 10 ≤ 14	;If  n=3 then  9 ≤ 13 ≤ 21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              	f(n) =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(g(n)) =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			f(n) =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			 [Average Case]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82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9785-7C24-49C9-8D63-33FEA1CDD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383" y="165762"/>
            <a:ext cx="9144000" cy="63609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Omega   [  </a:t>
            </a:r>
            <a:r>
              <a:rPr lang="el-G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(g(n))  ]  { Lower bound/Best case}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13FD-120D-4EAE-95D7-3730F9431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791" y="1083212"/>
            <a:ext cx="9880209" cy="5331656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f(n) = 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(g(n)), if and only if there exists constants “c and n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 such that f(n) ≥ c . g(n) for all value of n, where as n&gt;n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f(n)	=   3n + 4  ;                   f(n)  ≥ C . g(n)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3n + 4  ≥   C . g(n)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 3n + 4 ≥ 3n  then   C = 3 , g(n) = 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 n=1  then 7 ≥ 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 n=2 then 10 ≥ 6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 n=3 then 13 </a:t>
            </a: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≥ 9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               	f(n) = 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(g(n)) = 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   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thus 			f(n) = 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  				[Best Case]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7461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3794-796F-4FFA-A810-38CAF3D2B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92369"/>
            <a:ext cx="5181600" cy="568459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I) for(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=0;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n-1 ;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(“%d”, i+75);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II)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for(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=0;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n-1 ;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     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For (j=0; j&lt;m-2;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j++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(“*”);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(“\n”);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DAB97A-8487-4FAE-B901-C54D20EDA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2369"/>
            <a:ext cx="5181600" cy="5684594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III) for(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=0;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n ;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(j=0;j&lt;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n;j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++)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(“*”);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(“\n”);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62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1713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Algorithm Efficiency</vt:lpstr>
      <vt:lpstr>Linear Loop   (++,--)</vt:lpstr>
      <vt:lpstr>Logarithmic Loop (*,/)</vt:lpstr>
      <vt:lpstr>Nested loops</vt:lpstr>
      <vt:lpstr>Linear Logarithmic Loop</vt:lpstr>
      <vt:lpstr>Quadratic Loop</vt:lpstr>
      <vt:lpstr>Dependent Quadratic Nested Loops</vt:lpstr>
      <vt:lpstr>consecutive loops</vt:lpstr>
      <vt:lpstr>It is the meaningful way of representation of  time complexity. They are   i)  Big Oh          [  O (g(n))  ]  { Upper bound/Worst Case}  ii) Big Theta    [  Ɵ (g(n))  ]  {  Average }  iii) Big Omega   [  Ω (g(n))  ]  { Lower bound/Best case}     The Order increases in this format:  O (1), O (log n), O (n/2), O (n), O (n2), O (n3) . . .  </vt:lpstr>
      <vt:lpstr>Analysis:           Sum of n natural numbers  Algorithm:                           Time taken Start          ------ 0 Input: Read ‘n’     ------ 1             initialize:  sum=0, i=1   ------ 1 Process:  sum = sum + i          ------ n                  i  =  i +1              ------ n                 if   ( i &lt; = n )  go to step 4                       ------ n +1 Output:  print  ‘sum’           ------ 1 Stop           ------ 0       Total time in function  f(n) =   3n + 4 </vt:lpstr>
      <vt:lpstr>Big Oh [  O (g(n))  ]  { Upper bound/Worst Case}</vt:lpstr>
      <vt:lpstr> </vt:lpstr>
      <vt:lpstr>Big Omega   [  Ω (g(n))  ]  { Lower bound/Best case}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Efficiency</dc:title>
  <dc:creator>M ANUSHA</dc:creator>
  <cp:lastModifiedBy>M ANUSHA</cp:lastModifiedBy>
  <cp:revision>42</cp:revision>
  <dcterms:created xsi:type="dcterms:W3CDTF">2022-02-07T06:19:56Z</dcterms:created>
  <dcterms:modified xsi:type="dcterms:W3CDTF">2024-12-23T02:50:33Z</dcterms:modified>
</cp:coreProperties>
</file>